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7" r:id="rId3"/>
    <p:sldId id="258" r:id="rId4"/>
    <p:sldId id="28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7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F4F649-525C-4883-A1D5-D2048D784699}">
  <a:tblStyle styleId="{1BF4F649-525C-4883-A1D5-D2048D78469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77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B528A9B6-F9D1-1471-0915-097DA80BE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B2940A1F-521C-ED4C-C927-3BEB2E94C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54460FC0-4617-A4B8-A722-6545ABE979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2909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53BF364F-7F9E-E5A2-EC24-1E86D82BA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:notes">
            <a:extLst>
              <a:ext uri="{FF2B5EF4-FFF2-40B4-BE49-F238E27FC236}">
                <a16:creationId xmlns:a16="http://schemas.microsoft.com/office/drawing/2014/main" id="{499223BB-14CE-E4AF-3317-BC7B9F671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:notes">
            <a:extLst>
              <a:ext uri="{FF2B5EF4-FFF2-40B4-BE49-F238E27FC236}">
                <a16:creationId xmlns:a16="http://schemas.microsoft.com/office/drawing/2014/main" id="{507A2429-598B-DF36-ECB2-6117ED9BB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6321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5750" y="651510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95437" y="2501800"/>
            <a:ext cx="9001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Anomaly Detection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278981"/>
            <a:ext cx="85725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4A55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Processing with Flume, Spark, and Attention-Augmented Neural Networks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513361"/>
            <a:ext cx="8572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7180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Data Analytics Project Final Report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E36EE-E784-B4D8-4D41-1CBC1678510C}"/>
              </a:ext>
            </a:extLst>
          </p:cNvPr>
          <p:cNvSpPr txBox="1"/>
          <p:nvPr/>
        </p:nvSpPr>
        <p:spPr>
          <a:xfrm>
            <a:off x="285750" y="5056632"/>
            <a:ext cx="3993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AP25122060002-N Praveen</a:t>
            </a:r>
          </a:p>
          <a:p>
            <a:r>
              <a:rPr lang="en-US" dirty="0"/>
              <a:t>AP25122060031-K </a:t>
            </a:r>
            <a:r>
              <a:rPr lang="en-US"/>
              <a:t>Pardhu Sankar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EXECUTIVE SUMMARY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85750" y="651510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42950" y="24622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24622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 anomalies in real-time time-series data using a scalable, distributed architecture.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42950" y="31861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31861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Mechanism: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Integrated Apache Flume for ingestion, HDFS for storage, and Spark for parallel processing.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42950" y="39100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09625" y="3910012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Innovation:</a:t>
            </a:r>
            <a:r>
              <a:rPr lang="en-US" sz="1500" b="0" i="0" u="none" strike="noStrike" cap="none" dirty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Deployed a novel   model combining CNN, </a:t>
            </a:r>
            <a:r>
              <a:rPr lang="en-US" sz="1500" b="0" i="0" u="none" strike="noStrike" cap="none" dirty="0" err="1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BiLSTM</a:t>
            </a:r>
            <a:r>
              <a:rPr lang="en-US" sz="1500" b="0" i="0" u="none" strike="noStrike" cap="none" dirty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Multi-Head Attention.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742950" y="46339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09625" y="46339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Successfully processed 67 data files, identifying 33 "Elite" datasets with high-accuracy detection.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86037"/>
            <a:ext cx="2547937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586037"/>
            <a:ext cx="2547937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586037"/>
            <a:ext cx="2547937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586037"/>
            <a:ext cx="2547937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58312" y="2909887"/>
            <a:ext cx="1976437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ROADMAP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285750" y="651510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07839" y="3586162"/>
            <a:ext cx="207525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Infrastructure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57250" y="4033837"/>
            <a:ext cx="197643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Ingestion via Flume &amp; HDFS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3641526" y="3586162"/>
            <a:ext cx="207525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Processing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3690937" y="4033837"/>
            <a:ext cx="197643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Spark Architecture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475214" y="3586162"/>
            <a:ext cx="207525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Intelligence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524625" y="4033837"/>
            <a:ext cx="197643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 Deep Learning Model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308901" y="3586162"/>
            <a:ext cx="207525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Results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358312" y="4033837"/>
            <a:ext cx="197643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Metrics &amp; Visuals</a:t>
            </a:r>
            <a:endParaRPr/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97235" y="294798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30923" y="294798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64610" y="2947987"/>
            <a:ext cx="29646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>
          <a:extLst>
            <a:ext uri="{FF2B5EF4-FFF2-40B4-BE49-F238E27FC236}">
              <a16:creationId xmlns:a16="http://schemas.microsoft.com/office/drawing/2014/main" id="{F6927D78-DC2A-251F-7A03-26EC6C7C1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>
            <a:extLst>
              <a:ext uri="{FF2B5EF4-FFF2-40B4-BE49-F238E27FC236}">
                <a16:creationId xmlns:a16="http://schemas.microsoft.com/office/drawing/2014/main" id="{DC4FC0A4-5B40-C110-08F6-D83C3D610D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>
            <a:extLst>
              <a:ext uri="{FF2B5EF4-FFF2-40B4-BE49-F238E27FC236}">
                <a16:creationId xmlns:a16="http://schemas.microsoft.com/office/drawing/2014/main" id="{94F64599-116E-A5AD-282B-36DEC8B736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5187" y="2586037"/>
            <a:ext cx="2547937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>
            <a:extLst>
              <a:ext uri="{FF2B5EF4-FFF2-40B4-BE49-F238E27FC236}">
                <a16:creationId xmlns:a16="http://schemas.microsoft.com/office/drawing/2014/main" id="{E7610144-34F2-D9CC-0D28-E7DDEE96428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86037"/>
            <a:ext cx="2547937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>
            <a:extLst>
              <a:ext uri="{FF2B5EF4-FFF2-40B4-BE49-F238E27FC236}">
                <a16:creationId xmlns:a16="http://schemas.microsoft.com/office/drawing/2014/main" id="{6E35B637-D139-4ABC-232B-0AC05D27D1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72562" y="2586037"/>
            <a:ext cx="2547937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>
            <a:extLst>
              <a:ext uri="{FF2B5EF4-FFF2-40B4-BE49-F238E27FC236}">
                <a16:creationId xmlns:a16="http://schemas.microsoft.com/office/drawing/2014/main" id="{2160DF74-9404-AD87-9DD3-9D3EFC2AF66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58312" y="2909887"/>
            <a:ext cx="1976437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10849D33-58D2-7867-87C2-13734DEF997A}"/>
              </a:ext>
            </a:extLst>
          </p:cNvPr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ROADMAP</a:t>
            </a:r>
            <a:endParaRPr/>
          </a:p>
        </p:txBody>
      </p:sp>
      <p:sp>
        <p:nvSpPr>
          <p:cNvPr id="118" name="Google Shape;118;p15">
            <a:extLst>
              <a:ext uri="{FF2B5EF4-FFF2-40B4-BE49-F238E27FC236}">
                <a16:creationId xmlns:a16="http://schemas.microsoft.com/office/drawing/2014/main" id="{3C78679D-4CE7-F0C4-6FBD-6154F3D9042D}"/>
              </a:ext>
            </a:extLst>
          </p:cNvPr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>
            <a:extLst>
              <a:ext uri="{FF2B5EF4-FFF2-40B4-BE49-F238E27FC236}">
                <a16:creationId xmlns:a16="http://schemas.microsoft.com/office/drawing/2014/main" id="{153A2D00-3208-E214-4369-B37A1F661B3C}"/>
              </a:ext>
            </a:extLst>
          </p:cNvPr>
          <p:cNvSpPr txBox="1"/>
          <p:nvPr/>
        </p:nvSpPr>
        <p:spPr>
          <a:xfrm>
            <a:off x="285750" y="651510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A8B8D22A-B9BB-B11C-2769-2099749801B1}"/>
              </a:ext>
            </a:extLst>
          </p:cNvPr>
          <p:cNvSpPr txBox="1"/>
          <p:nvPr/>
        </p:nvSpPr>
        <p:spPr>
          <a:xfrm>
            <a:off x="3641526" y="3586162"/>
            <a:ext cx="207525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Processing</a:t>
            </a:r>
            <a:endParaRPr dirty="0"/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90B37149-E06A-D9D6-694C-C4CBAC5F70B0}"/>
              </a:ext>
            </a:extLst>
          </p:cNvPr>
          <p:cNvSpPr txBox="1"/>
          <p:nvPr/>
        </p:nvSpPr>
        <p:spPr>
          <a:xfrm>
            <a:off x="6475214" y="3586162"/>
            <a:ext cx="207525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Intelligence</a:t>
            </a:r>
            <a:endParaRPr/>
          </a:p>
        </p:txBody>
      </p:sp>
      <p:sp>
        <p:nvSpPr>
          <p:cNvPr id="125" name="Google Shape;125;p15">
            <a:extLst>
              <a:ext uri="{FF2B5EF4-FFF2-40B4-BE49-F238E27FC236}">
                <a16:creationId xmlns:a16="http://schemas.microsoft.com/office/drawing/2014/main" id="{B44B43CA-158B-1A7E-32B5-C8E7C54627EB}"/>
              </a:ext>
            </a:extLst>
          </p:cNvPr>
          <p:cNvSpPr txBox="1"/>
          <p:nvPr/>
        </p:nvSpPr>
        <p:spPr>
          <a:xfrm>
            <a:off x="6524625" y="4033837"/>
            <a:ext cx="197643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 Deep Learning Model</a:t>
            </a:r>
            <a:endParaRPr/>
          </a:p>
        </p:txBody>
      </p:sp>
      <p:sp>
        <p:nvSpPr>
          <p:cNvPr id="126" name="Google Shape;126;p15">
            <a:extLst>
              <a:ext uri="{FF2B5EF4-FFF2-40B4-BE49-F238E27FC236}">
                <a16:creationId xmlns:a16="http://schemas.microsoft.com/office/drawing/2014/main" id="{F55B09AF-BC46-8470-53C6-91E7C21FCE7E}"/>
              </a:ext>
            </a:extLst>
          </p:cNvPr>
          <p:cNvSpPr txBox="1"/>
          <p:nvPr/>
        </p:nvSpPr>
        <p:spPr>
          <a:xfrm>
            <a:off x="9308901" y="3586162"/>
            <a:ext cx="207525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Results</a:t>
            </a:r>
            <a:endParaRPr/>
          </a:p>
        </p:txBody>
      </p:sp>
      <p:sp>
        <p:nvSpPr>
          <p:cNvPr id="127" name="Google Shape;127;p15">
            <a:extLst>
              <a:ext uri="{FF2B5EF4-FFF2-40B4-BE49-F238E27FC236}">
                <a16:creationId xmlns:a16="http://schemas.microsoft.com/office/drawing/2014/main" id="{FED6C2A7-3B4E-DE7B-6577-4CE0750D0F5F}"/>
              </a:ext>
            </a:extLst>
          </p:cNvPr>
          <p:cNvSpPr txBox="1"/>
          <p:nvPr/>
        </p:nvSpPr>
        <p:spPr>
          <a:xfrm>
            <a:off x="9358312" y="4033837"/>
            <a:ext cx="197643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Metrics &amp; Visuals</a:t>
            </a:r>
            <a:endParaRPr/>
          </a:p>
        </p:txBody>
      </p:sp>
      <p:pic>
        <p:nvPicPr>
          <p:cNvPr id="128" name="Google Shape;128;p15" descr="image.png">
            <a:extLst>
              <a:ext uri="{FF2B5EF4-FFF2-40B4-BE49-F238E27FC236}">
                <a16:creationId xmlns:a16="http://schemas.microsoft.com/office/drawing/2014/main" id="{DF9AAE64-2455-6837-8BBE-23D349F2244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97235" y="294798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>
            <a:extLst>
              <a:ext uri="{FF2B5EF4-FFF2-40B4-BE49-F238E27FC236}">
                <a16:creationId xmlns:a16="http://schemas.microsoft.com/office/drawing/2014/main" id="{A38EA0D6-B22C-ABFA-AD42-D012D0F1240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30923" y="294798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>
            <a:extLst>
              <a:ext uri="{FF2B5EF4-FFF2-40B4-BE49-F238E27FC236}">
                <a16:creationId xmlns:a16="http://schemas.microsoft.com/office/drawing/2014/main" id="{616EEBD4-7BB6-7744-9740-D1921FCC961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64610" y="294798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976988-9A38-0A0A-672E-9AAA565902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97857"/>
            <a:ext cx="12192000" cy="479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71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285750" y="651510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860376" y="2634555"/>
            <a:ext cx="2471246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1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418558" y="4035772"/>
            <a:ext cx="3354734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&amp; Data Ingestion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INGESTION PIPELINE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285750" y="651510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29003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establishes a robust pipeline to simulate real-time web server traffic and route it efficiently to distributed storage.</a:t>
            </a:r>
            <a:endParaRPr/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742950" y="37004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09625" y="37004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 Web Server Simulation (Port 44444).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42950" y="4119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09625" y="41195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Apache Flume (Netcat Source).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42950" y="45386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09625" y="45386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Sink: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Hadoop Distributed File System (HDFS).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APACHE FLUME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285750" y="651510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6334125" y="27479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Apache Flume acts as the critical bridge between the raw data source and the storage layer.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505575" y="35480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572250" y="35480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Ensures no data loss during transmission.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505575" y="39671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572250" y="39671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Buffering: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a memory channel to handle throughput spikes.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505575" y="43862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572250" y="43862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Decoupling: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Separates the generation of data from its processing and storage.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FLUME CONFIGURATION DETAILS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285750" y="651510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graphicFrame>
        <p:nvGraphicFramePr>
          <p:cNvPr id="182" name="Google Shape;182;p19"/>
          <p:cNvGraphicFramePr/>
          <p:nvPr/>
        </p:nvGraphicFramePr>
        <p:xfrm>
          <a:off x="571500" y="2495550"/>
          <a:ext cx="11048975" cy="2905125"/>
        </p:xfrm>
        <a:graphic>
          <a:graphicData uri="http://schemas.openxmlformats.org/drawingml/2006/table">
            <a:tbl>
              <a:tblPr firstRow="1" bandRow="1">
                <a:noFill/>
                <a:tableStyleId>{1BF4F649-525C-4883-A1D5-D2048D784699}</a:tableStyleId>
              </a:tblPr>
              <a:tblGrid>
                <a:gridCol w="235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8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B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B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B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 (r1)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Netcat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Bind / 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localhost / 44444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Sink (k1)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HDFS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/user/praveen/bda_project...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Channel (c1)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Capacity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 Events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DataStream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Write Format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3" name="Google Shape;183;p19"/>
          <p:cNvSpPr/>
          <p:nvPr/>
        </p:nvSpPr>
        <p:spPr>
          <a:xfrm>
            <a:off x="571500" y="3586162"/>
            <a:ext cx="2355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2927300" y="3586162"/>
            <a:ext cx="2101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028902" y="3586162"/>
            <a:ext cx="23227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351662" y="3586162"/>
            <a:ext cx="4268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71500" y="4186237"/>
            <a:ext cx="2355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2927300" y="4186237"/>
            <a:ext cx="2101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028902" y="4186237"/>
            <a:ext cx="23227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351662" y="4186237"/>
            <a:ext cx="4268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71500" y="4786312"/>
            <a:ext cx="2355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927300" y="4786312"/>
            <a:ext cx="2101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028902" y="4786312"/>
            <a:ext cx="23227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351662" y="4786312"/>
            <a:ext cx="4268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71500" y="5386387"/>
            <a:ext cx="2355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2927300" y="5386387"/>
            <a:ext cx="2101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5028902" y="5386387"/>
            <a:ext cx="23227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7351662" y="5386387"/>
            <a:ext cx="4268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SIMULATING WEB TRAFFIC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285750" y="651510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71500" y="22336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Python script mimics a live web server by streaming CSV data rows to a network socket.</a:t>
            </a:r>
            <a:endParaRPr/>
          </a:p>
        </p:txBody>
      </p:sp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742950" y="30337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09625" y="30337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`real_1.csv` (Sample dataset).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742950" y="34528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809625" y="34528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Socket Connection: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`socket.AF_INET` streaming to localhost:44444.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42950" y="41767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09625" y="41767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Simulation: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`time.sleep(0.05)` ensures a realistic data arrival rate.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42950" y="49006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09625" y="49006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Streamed as comma-separated strings (timestamp, value, anomaly).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285750" y="651510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3534589" y="1402407"/>
            <a:ext cx="512267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Data Flow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3656558" y="2297757"/>
            <a:ext cx="4878734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Server Script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↓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>
                <a:solidFill>
                  <a:srgbClr val="63B3E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 Socket (Port 44444)</a:t>
            </a:r>
            <a:r>
              <a:rPr lang="en-US" sz="2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↓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Flume Netcat Source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↓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>
                <a:solidFill>
                  <a:srgbClr val="63B3E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Channel</a:t>
            </a:r>
            <a:r>
              <a:rPr lang="en-US" sz="2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↓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HDFS Sink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VERIFICATION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pic>
        <p:nvPicPr>
          <p:cNvPr id="235" name="Google Shape;23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6334125" y="2447925"/>
            <a:ext cx="55506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Steps Performed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6505575" y="2857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572250" y="28575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Validation: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Confirmed 100 samples saved to `local_100_sample.csv`.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505575" y="3581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572250" y="35814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Flume Connection: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Verified successful socket connection and data stream.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505575" y="43053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572250" y="43053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HDFS Inspection: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`hdfs dfs -ls` to confirm file creation.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505575" y="4724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572250" y="47244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Integrity: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`hdfs dfs -cat` verified the content format matches the source.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285750" y="6515100"/>
            <a:ext cx="12843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4860376" y="2634555"/>
            <a:ext cx="2471246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2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269878" y="4035772"/>
            <a:ext cx="3652093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Processing with Spark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SPARK ENVIRONMENT SETUP</a:t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571500" y="24431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processing core utilizes Apache Spark 4.0.1, optimized for local parallel processing.</a:t>
            </a:r>
            <a:endParaRPr/>
          </a:p>
        </p:txBody>
      </p:sp>
      <p:pic>
        <p:nvPicPr>
          <p:cNvPr id="264" name="Google Shape;26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742950" y="32432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809625" y="32432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Runtime: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Forced configuration of Java 17 (OpenJDK).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742950" y="36623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809625" y="36623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Allocation: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4GB Driver / 4GB Executor to handle intensive Deep Learning tasks.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742950" y="43862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809625" y="43862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Apache Arrow enabled (`spark.sql.execution.arrow.pyspark.enabled`) for efficient data transfer between JVM and Python.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1237"/>
            <a:ext cx="5133528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90778" y="2281237"/>
            <a:ext cx="267206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48588" y="2281237"/>
            <a:ext cx="267206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HDFS DATA INGESTION</a:t>
            </a: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743199" y="3281362"/>
            <a:ext cx="47901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Path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857250" y="3729037"/>
            <a:ext cx="456202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from `/user/praveen/bda_project/Yahoo_S5_Data/A1Benchmark`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6224014" y="3281362"/>
            <a:ext cx="220558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Bulk Load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6276528" y="3729037"/>
            <a:ext cx="210056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Spark automatically ingests all CSV files within the directory simultaneously.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9181824" y="3281362"/>
            <a:ext cx="220558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Tagging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9234338" y="3729037"/>
            <a:ext cx="21005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`input_file_name()` is used to tag each row with its source filename.</a:t>
            </a:r>
            <a:endParaRPr/>
          </a:p>
        </p:txBody>
      </p:sp>
      <p:pic>
        <p:nvPicPr>
          <p:cNvPr id="288" name="Google Shape;288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89957" y="264318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78575" y="264318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36385" y="2643187"/>
            <a:ext cx="29646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 DEFINITION &amp; CLEANING</a:t>
            </a:r>
            <a:endParaRPr/>
          </a:p>
        </p:txBody>
      </p:sp>
      <p:sp>
        <p:nvSpPr>
          <p:cNvPr id="297" name="Google Shape;297;p26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571500" y="23955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integrity is enforced through strict typing and null handling before processing begins.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6334125" y="2600325"/>
            <a:ext cx="55506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 Actions</a:t>
            </a:r>
            <a:endParaRPr/>
          </a:p>
        </p:txBody>
      </p:sp>
      <p:graphicFrame>
        <p:nvGraphicFramePr>
          <p:cNvPr id="301" name="Google Shape;301;p26"/>
          <p:cNvGraphicFramePr/>
          <p:nvPr/>
        </p:nvGraphicFramePr>
        <p:xfrm>
          <a:off x="571500" y="3195637"/>
          <a:ext cx="5286375" cy="2305025"/>
        </p:xfrm>
        <a:graphic>
          <a:graphicData uri="http://schemas.openxmlformats.org/drawingml/2006/table">
            <a:tbl>
              <a:tblPr firstRow="1" bandRow="1">
                <a:noFill/>
                <a:tableStyleId>{1BF4F649-525C-4883-A1D5-D2048D784699}</a:tableStyleId>
              </a:tblPr>
              <a:tblGrid>
                <a:gridCol w="149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B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B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timestamp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Double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 series index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Double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 reading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anomaly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Ground truth (0 or 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2" name="Google Shape;302;p26"/>
          <p:cNvSpPr txBox="1"/>
          <p:nvPr/>
        </p:nvSpPr>
        <p:spPr>
          <a:xfrm>
            <a:off x="6505575" y="30099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6572250" y="30099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Casting: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Explicit type casting ensures consistency across heterogeneous files.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6505575" y="37338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6572250" y="37338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Renaming: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`is_anomaly` standardized to `anomaly`.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6505575" y="41529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6572250" y="41529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 Removal: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`df_spark.na.drop` removes corrupted rows to prevent training errors.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6505575" y="48768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6572250" y="48768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Volume: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Total 94,866 rows loaded from 67 files.</a:t>
            </a:r>
            <a:endParaRPr/>
          </a:p>
        </p:txBody>
      </p:sp>
      <p:sp>
        <p:nvSpPr>
          <p:cNvPr id="310" name="Google Shape;310;p26"/>
          <p:cNvSpPr/>
          <p:nvPr/>
        </p:nvSpPr>
        <p:spPr>
          <a:xfrm>
            <a:off x="571500" y="4286250"/>
            <a:ext cx="14936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2065139" y="4286250"/>
            <a:ext cx="1171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3236714" y="4286250"/>
            <a:ext cx="26211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571500" y="4886325"/>
            <a:ext cx="14936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2065139" y="4886325"/>
            <a:ext cx="1171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3236714" y="4886325"/>
            <a:ext cx="26211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571500" y="5486400"/>
            <a:ext cx="14936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2065139" y="5486400"/>
            <a:ext cx="1171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3236714" y="5486400"/>
            <a:ext cx="26211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SPLIT-APPLY-COMBINE STRATEGY</a:t>
            </a:r>
            <a:endParaRPr/>
          </a:p>
        </p:txBody>
      </p:sp>
      <p:sp>
        <p:nvSpPr>
          <p:cNvPr id="326" name="Google Shape;326;p27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/>
          </a:p>
        </p:txBody>
      </p:sp>
      <p:pic>
        <p:nvPicPr>
          <p:cNvPr id="328" name="Google Shape;328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7"/>
          <p:cNvSpPr txBox="1"/>
          <p:nvPr/>
        </p:nvSpPr>
        <p:spPr>
          <a:xfrm>
            <a:off x="6334125" y="25955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 of sequential looping, Spark distributes the workload across available cores.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6505575" y="33956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31" name="Google Shape;331;p27"/>
          <p:cNvSpPr txBox="1"/>
          <p:nvPr/>
        </p:nvSpPr>
        <p:spPr>
          <a:xfrm>
            <a:off x="6572250" y="339566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massive DataFrame is grouped by `file_source`.</a:t>
            </a:r>
            <a:endParaRPr/>
          </a:p>
        </p:txBody>
      </p:sp>
      <p:sp>
        <p:nvSpPr>
          <p:cNvPr id="332" name="Google Shape;332;p27"/>
          <p:cNvSpPr txBox="1"/>
          <p:nvPr/>
        </p:nvSpPr>
        <p:spPr>
          <a:xfrm>
            <a:off x="6505575" y="38147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6572250" y="38147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Pandas UDF (`analyze_one_file`) processes each file independently.</a:t>
            </a:r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6505575" y="45386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6572250" y="45386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Results (F1 scores, metrics) are aggregated back into a single results DataFrame.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33637"/>
            <a:ext cx="349254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33637"/>
            <a:ext cx="349254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33637"/>
            <a:ext cx="3492549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8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DISTRIBUTED PROCESSING?</a:t>
            </a:r>
            <a:endParaRPr/>
          </a:p>
        </p:txBody>
      </p:sp>
      <p:sp>
        <p:nvSpPr>
          <p:cNvPr id="345" name="Google Shape;345;p28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8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/>
          </a:p>
        </p:txBody>
      </p:sp>
      <p:sp>
        <p:nvSpPr>
          <p:cNvPr id="347" name="Google Shape;347;p28"/>
          <p:cNvSpPr txBox="1"/>
          <p:nvPr/>
        </p:nvSpPr>
        <p:spPr>
          <a:xfrm>
            <a:off x="784223" y="3433762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endParaRPr/>
          </a:p>
        </p:txBody>
      </p:sp>
      <p:sp>
        <p:nvSpPr>
          <p:cNvPr id="348" name="Google Shape;348;p28"/>
          <p:cNvSpPr txBox="1"/>
          <p:nvPr/>
        </p:nvSpPr>
        <p:spPr>
          <a:xfrm>
            <a:off x="857250" y="3881437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total processing time to 877 seconds for 67 deep learning models.</a:t>
            </a:r>
            <a:endParaRPr/>
          </a:p>
        </p:txBody>
      </p:sp>
      <p:sp>
        <p:nvSpPr>
          <p:cNvPr id="349" name="Google Shape;349;p28"/>
          <p:cNvSpPr txBox="1"/>
          <p:nvPr/>
        </p:nvSpPr>
        <p:spPr>
          <a:xfrm>
            <a:off x="4562523" y="3433762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Isolation</a:t>
            </a:r>
            <a:endParaRPr/>
          </a:p>
        </p:txBody>
      </p:sp>
      <p:sp>
        <p:nvSpPr>
          <p:cNvPr id="350" name="Google Shape;350;p28"/>
          <p:cNvSpPr txBox="1"/>
          <p:nvPr/>
        </p:nvSpPr>
        <p:spPr>
          <a:xfrm>
            <a:off x="4635549" y="388143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leakage is impossible as each file is processed in its own isolated memory space.</a:t>
            </a:r>
            <a:endParaRPr/>
          </a:p>
        </p:txBody>
      </p:sp>
      <p:sp>
        <p:nvSpPr>
          <p:cNvPr id="351" name="Google Shape;351;p28"/>
          <p:cNvSpPr txBox="1"/>
          <p:nvPr/>
        </p:nvSpPr>
        <p:spPr>
          <a:xfrm>
            <a:off x="8340822" y="3433762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</a:t>
            </a:r>
            <a:endParaRPr/>
          </a:p>
        </p:txBody>
      </p:sp>
      <p:sp>
        <p:nvSpPr>
          <p:cNvPr id="352" name="Google Shape;352;p28"/>
          <p:cNvSpPr txBox="1"/>
          <p:nvPr/>
        </p:nvSpPr>
        <p:spPr>
          <a:xfrm>
            <a:off x="8413849" y="388143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supports scaling to thousands of files simply by adding more nodes.</a:t>
            </a:r>
            <a:endParaRPr/>
          </a:p>
        </p:txBody>
      </p:sp>
      <p:pic>
        <p:nvPicPr>
          <p:cNvPr id="353" name="Google Shape;353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69467" y="279558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47767" y="279558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26066" y="2795587"/>
            <a:ext cx="29646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9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/>
          </a:p>
        </p:txBody>
      </p:sp>
      <p:sp>
        <p:nvSpPr>
          <p:cNvPr id="363" name="Google Shape;363;p29"/>
          <p:cNvSpPr txBox="1"/>
          <p:nvPr/>
        </p:nvSpPr>
        <p:spPr>
          <a:xfrm>
            <a:off x="4860376" y="2634555"/>
            <a:ext cx="2471246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3</a:t>
            </a:r>
            <a:endParaRPr/>
          </a:p>
        </p:txBody>
      </p:sp>
      <p:sp>
        <p:nvSpPr>
          <p:cNvPr id="364" name="Google Shape;364;p29"/>
          <p:cNvSpPr txBox="1"/>
          <p:nvPr/>
        </p:nvSpPr>
        <p:spPr>
          <a:xfrm>
            <a:off x="4814887" y="4035772"/>
            <a:ext cx="25622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Intelligence Engine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0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</a:t>
            </a:r>
            <a:endParaRPr dirty="0"/>
          </a:p>
        </p:txBody>
      </p:sp>
      <p:sp>
        <p:nvSpPr>
          <p:cNvPr id="373" name="Google Shape;373;p30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0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809625" y="5081587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9A5526-8F1B-4917-2E47-D9090F774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1100138"/>
            <a:ext cx="10397927" cy="57578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>
          <a:extLst>
            <a:ext uri="{FF2B5EF4-FFF2-40B4-BE49-F238E27FC236}">
              <a16:creationId xmlns:a16="http://schemas.microsoft.com/office/drawing/2014/main" id="{0AB65F5E-08DC-5146-3E96-F4BEDB8E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0" descr="image.png">
            <a:extLst>
              <a:ext uri="{FF2B5EF4-FFF2-40B4-BE49-F238E27FC236}">
                <a16:creationId xmlns:a16="http://schemas.microsoft.com/office/drawing/2014/main" id="{1DE6967F-20F9-A3CA-E421-6D96A3BCF1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0" descr="image.png">
            <a:extLst>
              <a:ext uri="{FF2B5EF4-FFF2-40B4-BE49-F238E27FC236}">
                <a16:creationId xmlns:a16="http://schemas.microsoft.com/office/drawing/2014/main" id="{A762CAAB-43DA-DD63-A7CD-871F58550C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0" descr="image.png">
            <a:extLst>
              <a:ext uri="{FF2B5EF4-FFF2-40B4-BE49-F238E27FC236}">
                <a16:creationId xmlns:a16="http://schemas.microsoft.com/office/drawing/2014/main" id="{D96B8F71-F882-2644-EC26-EFF06684543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57537"/>
            <a:ext cx="5286375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0">
            <a:extLst>
              <a:ext uri="{FF2B5EF4-FFF2-40B4-BE49-F238E27FC236}">
                <a16:creationId xmlns:a16="http://schemas.microsoft.com/office/drawing/2014/main" id="{353CF664-9CE1-926A-C0E1-39842A353264}"/>
              </a:ext>
            </a:extLst>
          </p:cNvPr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</a:t>
            </a:r>
            <a:endParaRPr dirty="0"/>
          </a:p>
        </p:txBody>
      </p:sp>
      <p:sp>
        <p:nvSpPr>
          <p:cNvPr id="373" name="Google Shape;373;p30">
            <a:extLst>
              <a:ext uri="{FF2B5EF4-FFF2-40B4-BE49-F238E27FC236}">
                <a16:creationId xmlns:a16="http://schemas.microsoft.com/office/drawing/2014/main" id="{D0759955-8FBF-BAB2-A447-59DA31B9ABB2}"/>
              </a:ext>
            </a:extLst>
          </p:cNvPr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0">
            <a:extLst>
              <a:ext uri="{FF2B5EF4-FFF2-40B4-BE49-F238E27FC236}">
                <a16:creationId xmlns:a16="http://schemas.microsoft.com/office/drawing/2014/main" id="{F3F1DAB3-B0DF-EBF7-52B8-C8C1FD7FA91A}"/>
              </a:ext>
            </a:extLst>
          </p:cNvPr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/>
          </a:p>
        </p:txBody>
      </p:sp>
      <p:sp>
        <p:nvSpPr>
          <p:cNvPr id="375" name="Google Shape;375;p30">
            <a:extLst>
              <a:ext uri="{FF2B5EF4-FFF2-40B4-BE49-F238E27FC236}">
                <a16:creationId xmlns:a16="http://schemas.microsoft.com/office/drawing/2014/main" id="{98852CE4-114F-B3BB-B9DD-44FD75D363A4}"/>
              </a:ext>
            </a:extLst>
          </p:cNvPr>
          <p:cNvSpPr txBox="1"/>
          <p:nvPr/>
        </p:nvSpPr>
        <p:spPr>
          <a:xfrm>
            <a:off x="571500" y="23574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hybrid deep learning architecture designed for temporal anomaly detection.</a:t>
            </a:r>
            <a:endParaRPr/>
          </a:p>
        </p:txBody>
      </p:sp>
      <p:pic>
        <p:nvPicPr>
          <p:cNvPr id="376" name="Google Shape;376;p30" descr="image.png">
            <a:extLst>
              <a:ext uri="{FF2B5EF4-FFF2-40B4-BE49-F238E27FC236}">
                <a16:creationId xmlns:a16="http://schemas.microsoft.com/office/drawing/2014/main" id="{E0D15F94-D7F9-E1CF-079A-085BF9EBD81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0">
            <a:extLst>
              <a:ext uri="{FF2B5EF4-FFF2-40B4-BE49-F238E27FC236}">
                <a16:creationId xmlns:a16="http://schemas.microsoft.com/office/drawing/2014/main" id="{B2D68763-7E7A-6AE0-4FBE-998430CA0404}"/>
              </a:ext>
            </a:extLst>
          </p:cNvPr>
          <p:cNvSpPr txBox="1"/>
          <p:nvPr/>
        </p:nvSpPr>
        <p:spPr>
          <a:xfrm>
            <a:off x="742950" y="42433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78" name="Google Shape;378;p30">
            <a:extLst>
              <a:ext uri="{FF2B5EF4-FFF2-40B4-BE49-F238E27FC236}">
                <a16:creationId xmlns:a16="http://schemas.microsoft.com/office/drawing/2014/main" id="{EA0F54F2-D2CC-BDE7-6261-485255A1902D}"/>
              </a:ext>
            </a:extLst>
          </p:cNvPr>
          <p:cNvSpPr txBox="1"/>
          <p:nvPr/>
        </p:nvSpPr>
        <p:spPr>
          <a:xfrm>
            <a:off x="809625" y="42433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Sequence of 5 time steps.</a:t>
            </a:r>
            <a:endParaRPr/>
          </a:p>
        </p:txBody>
      </p:sp>
      <p:sp>
        <p:nvSpPr>
          <p:cNvPr id="379" name="Google Shape;379;p30">
            <a:extLst>
              <a:ext uri="{FF2B5EF4-FFF2-40B4-BE49-F238E27FC236}">
                <a16:creationId xmlns:a16="http://schemas.microsoft.com/office/drawing/2014/main" id="{F9645121-EE79-0C10-E00F-B1D98E691975}"/>
              </a:ext>
            </a:extLst>
          </p:cNvPr>
          <p:cNvSpPr txBox="1"/>
          <p:nvPr/>
        </p:nvSpPr>
        <p:spPr>
          <a:xfrm>
            <a:off x="742950" y="46624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80" name="Google Shape;380;p30">
            <a:extLst>
              <a:ext uri="{FF2B5EF4-FFF2-40B4-BE49-F238E27FC236}">
                <a16:creationId xmlns:a16="http://schemas.microsoft.com/office/drawing/2014/main" id="{E10F07D1-BCD4-5972-72A3-0364826EA571}"/>
              </a:ext>
            </a:extLst>
          </p:cNvPr>
          <p:cNvSpPr txBox="1"/>
          <p:nvPr/>
        </p:nvSpPr>
        <p:spPr>
          <a:xfrm>
            <a:off x="809625" y="46624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Spatial (CNN) and Temporal (LSTM).</a:t>
            </a:r>
            <a:endParaRPr/>
          </a:p>
        </p:txBody>
      </p:sp>
      <p:sp>
        <p:nvSpPr>
          <p:cNvPr id="381" name="Google Shape;381;p30">
            <a:extLst>
              <a:ext uri="{FF2B5EF4-FFF2-40B4-BE49-F238E27FC236}">
                <a16:creationId xmlns:a16="http://schemas.microsoft.com/office/drawing/2014/main" id="{88DBDE95-F1AE-1112-9903-6F673FE6AC3C}"/>
              </a:ext>
            </a:extLst>
          </p:cNvPr>
          <p:cNvSpPr txBox="1"/>
          <p:nvPr/>
        </p:nvSpPr>
        <p:spPr>
          <a:xfrm>
            <a:off x="742950" y="50815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82" name="Google Shape;382;p30">
            <a:extLst>
              <a:ext uri="{FF2B5EF4-FFF2-40B4-BE49-F238E27FC236}">
                <a16:creationId xmlns:a16="http://schemas.microsoft.com/office/drawing/2014/main" id="{85A38811-D68F-713E-D974-35795BA4CB19}"/>
              </a:ext>
            </a:extLst>
          </p:cNvPr>
          <p:cNvSpPr txBox="1"/>
          <p:nvPr/>
        </p:nvSpPr>
        <p:spPr>
          <a:xfrm>
            <a:off x="809625" y="50815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Self-Attention mechanism to weight critical time steps.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9294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1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1: FEATURE EXTRACTION (CNN)</a:t>
            </a:r>
            <a:endParaRPr/>
          </a:p>
        </p:txBody>
      </p:sp>
      <p:sp>
        <p:nvSpPr>
          <p:cNvPr id="390" name="Google Shape;390;p31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endParaRPr/>
          </a:p>
        </p:txBody>
      </p:sp>
      <p:pic>
        <p:nvPicPr>
          <p:cNvPr id="392" name="Google Shape;392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1"/>
          <p:cNvSpPr txBox="1"/>
          <p:nvPr/>
        </p:nvSpPr>
        <p:spPr>
          <a:xfrm>
            <a:off x="6334125" y="2486025"/>
            <a:ext cx="55506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Conv1D + MaxPool</a:t>
            </a:r>
            <a:endParaRPr/>
          </a:p>
        </p:txBody>
      </p:sp>
      <p:sp>
        <p:nvSpPr>
          <p:cNvPr id="394" name="Google Shape;394;p31"/>
          <p:cNvSpPr txBox="1"/>
          <p:nvPr/>
        </p:nvSpPr>
        <p:spPr>
          <a:xfrm>
            <a:off x="6334125" y="29337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stage extracts local patterns and reduces noise.</a:t>
            </a:r>
            <a:endParaRPr/>
          </a:p>
        </p:txBody>
      </p:sp>
      <p:sp>
        <p:nvSpPr>
          <p:cNvPr id="395" name="Google Shape;395;p31"/>
          <p:cNvSpPr txBox="1"/>
          <p:nvPr/>
        </p:nvSpPr>
        <p:spPr>
          <a:xfrm>
            <a:off x="6505575" y="3429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96" name="Google Shape;396;p31"/>
          <p:cNvSpPr txBox="1"/>
          <p:nvPr/>
        </p:nvSpPr>
        <p:spPr>
          <a:xfrm>
            <a:off x="6572250" y="34290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Filters: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64 filters with a kernel size of 3.</a:t>
            </a:r>
            <a:endParaRPr/>
          </a:p>
        </p:txBody>
      </p:sp>
      <p:sp>
        <p:nvSpPr>
          <p:cNvPr id="397" name="Google Shape;397;p31"/>
          <p:cNvSpPr txBox="1"/>
          <p:nvPr/>
        </p:nvSpPr>
        <p:spPr>
          <a:xfrm>
            <a:off x="6505575" y="38481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398" name="Google Shape;398;p31"/>
          <p:cNvSpPr txBox="1"/>
          <p:nvPr/>
        </p:nvSpPr>
        <p:spPr>
          <a:xfrm>
            <a:off x="6572250" y="38481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Activation: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ReLU for non-linearity.</a:t>
            </a:r>
            <a:endParaRPr/>
          </a:p>
        </p:txBody>
      </p:sp>
      <p:sp>
        <p:nvSpPr>
          <p:cNvPr id="399" name="Google Shape;399;p31"/>
          <p:cNvSpPr txBox="1"/>
          <p:nvPr/>
        </p:nvSpPr>
        <p:spPr>
          <a:xfrm>
            <a:off x="6505575" y="42672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400" name="Google Shape;400;p31"/>
          <p:cNvSpPr txBox="1"/>
          <p:nvPr/>
        </p:nvSpPr>
        <p:spPr>
          <a:xfrm>
            <a:off x="6572250" y="42672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Pooling: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MaxPooling1D reduces dimensionality and emphasizes dominant features.</a:t>
            </a:r>
            <a:endParaRPr/>
          </a:p>
        </p:txBody>
      </p:sp>
      <p:sp>
        <p:nvSpPr>
          <p:cNvPr id="401" name="Google Shape;401;p31"/>
          <p:cNvSpPr txBox="1"/>
          <p:nvPr/>
        </p:nvSpPr>
        <p:spPr>
          <a:xfrm>
            <a:off x="6505575" y="49911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402" name="Google Shape;402;p31"/>
          <p:cNvSpPr txBox="1"/>
          <p:nvPr/>
        </p:nvSpPr>
        <p:spPr>
          <a:xfrm>
            <a:off x="6572250" y="49911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Identify sudden spikes or drops in the local window.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2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2: TEMPORAL CONTEXT (BILSTM)</a:t>
            </a:r>
            <a:endParaRPr/>
          </a:p>
        </p:txBody>
      </p:sp>
      <p:sp>
        <p:nvSpPr>
          <p:cNvPr id="410" name="Google Shape;410;p32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2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/>
          </a:p>
        </p:txBody>
      </p:sp>
      <p:sp>
        <p:nvSpPr>
          <p:cNvPr id="412" name="Google Shape;412;p32"/>
          <p:cNvSpPr txBox="1"/>
          <p:nvPr/>
        </p:nvSpPr>
        <p:spPr>
          <a:xfrm>
            <a:off x="571500" y="2390775"/>
            <a:ext cx="55506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Bidirectional LSTM</a:t>
            </a:r>
            <a:endParaRPr/>
          </a:p>
        </p:txBody>
      </p:sp>
      <p:sp>
        <p:nvSpPr>
          <p:cNvPr id="413" name="Google Shape;413;p32"/>
          <p:cNvSpPr txBox="1"/>
          <p:nvPr/>
        </p:nvSpPr>
        <p:spPr>
          <a:xfrm>
            <a:off x="571500" y="28384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long-term dependencies in both forward and backward directions.</a:t>
            </a:r>
            <a:endParaRPr/>
          </a:p>
        </p:txBody>
      </p:sp>
      <p:pic>
        <p:nvPicPr>
          <p:cNvPr id="414" name="Google Shape;414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2"/>
          <p:cNvSpPr txBox="1"/>
          <p:nvPr/>
        </p:nvSpPr>
        <p:spPr>
          <a:xfrm>
            <a:off x="742950" y="36385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416" name="Google Shape;416;p32"/>
          <p:cNvSpPr txBox="1"/>
          <p:nvPr/>
        </p:nvSpPr>
        <p:spPr>
          <a:xfrm>
            <a:off x="809625" y="36385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Units: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64 units per direction (128 total output).</a:t>
            </a:r>
            <a:endParaRPr/>
          </a:p>
        </p:txBody>
      </p:sp>
      <p:sp>
        <p:nvSpPr>
          <p:cNvPr id="417" name="Google Shape;417;p32"/>
          <p:cNvSpPr txBox="1"/>
          <p:nvPr/>
        </p:nvSpPr>
        <p:spPr>
          <a:xfrm>
            <a:off x="742950" y="40576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418" name="Google Shape;418;p32"/>
          <p:cNvSpPr txBox="1"/>
          <p:nvPr/>
        </p:nvSpPr>
        <p:spPr>
          <a:xfrm>
            <a:off x="809625" y="40576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Bidirectionality: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Allows the model to understand the context of a data point based on past and future (within the sequence) trends.</a:t>
            </a:r>
            <a:endParaRPr/>
          </a:p>
        </p:txBody>
      </p:sp>
      <p:sp>
        <p:nvSpPr>
          <p:cNvPr id="419" name="Google Shape;419;p32"/>
          <p:cNvSpPr txBox="1"/>
          <p:nvPr/>
        </p:nvSpPr>
        <p:spPr>
          <a:xfrm>
            <a:off x="742950" y="47815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420" name="Google Shape;420;p32"/>
          <p:cNvSpPr txBox="1"/>
          <p:nvPr/>
        </p:nvSpPr>
        <p:spPr>
          <a:xfrm>
            <a:off x="809625" y="47815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Dropout: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0.2 dropout rate applied to prevent overfitting on smaller datasets.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33637"/>
            <a:ext cx="349254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33637"/>
            <a:ext cx="349254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33637"/>
            <a:ext cx="3492549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3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3: MULTI-HEAD ATTENTION</a:t>
            </a:r>
            <a:endParaRPr/>
          </a:p>
        </p:txBody>
      </p:sp>
      <p:sp>
        <p:nvSpPr>
          <p:cNvPr id="430" name="Google Shape;430;p33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3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endParaRPr/>
          </a:p>
        </p:txBody>
      </p:sp>
      <p:sp>
        <p:nvSpPr>
          <p:cNvPr id="432" name="Google Shape;432;p33"/>
          <p:cNvSpPr txBox="1"/>
          <p:nvPr/>
        </p:nvSpPr>
        <p:spPr>
          <a:xfrm>
            <a:off x="784223" y="3433762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</a:t>
            </a:r>
            <a:endParaRPr/>
          </a:p>
        </p:txBody>
      </p:sp>
      <p:sp>
        <p:nvSpPr>
          <p:cNvPr id="433" name="Google Shape;433;p33"/>
          <p:cNvSpPr txBox="1"/>
          <p:nvPr/>
        </p:nvSpPr>
        <p:spPr>
          <a:xfrm>
            <a:off x="857250" y="3881437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Dynamically assigns weights to different time steps in the sequence.</a:t>
            </a:r>
            <a:endParaRPr/>
          </a:p>
        </p:txBody>
      </p:sp>
      <p:sp>
        <p:nvSpPr>
          <p:cNvPr id="434" name="Google Shape;434;p33"/>
          <p:cNvSpPr txBox="1"/>
          <p:nvPr/>
        </p:nvSpPr>
        <p:spPr>
          <a:xfrm>
            <a:off x="4562523" y="3433762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Relevance</a:t>
            </a:r>
            <a:endParaRPr/>
          </a:p>
        </p:txBody>
      </p:sp>
      <p:sp>
        <p:nvSpPr>
          <p:cNvPr id="435" name="Google Shape;435;p33"/>
          <p:cNvSpPr txBox="1"/>
          <p:nvPr/>
        </p:nvSpPr>
        <p:spPr>
          <a:xfrm>
            <a:off x="4635549" y="388143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the model distinguish between random noise and significant signal deviations.</a:t>
            </a:r>
            <a:endParaRPr/>
          </a:p>
        </p:txBody>
      </p:sp>
      <p:sp>
        <p:nvSpPr>
          <p:cNvPr id="436" name="Google Shape;436;p33"/>
          <p:cNvSpPr txBox="1"/>
          <p:nvPr/>
        </p:nvSpPr>
        <p:spPr>
          <a:xfrm>
            <a:off x="8340822" y="3433762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</a:t>
            </a:r>
            <a:endParaRPr/>
          </a:p>
        </p:txBody>
      </p:sp>
      <p:sp>
        <p:nvSpPr>
          <p:cNvPr id="437" name="Google Shape;437;p33"/>
          <p:cNvSpPr txBox="1"/>
          <p:nvPr/>
        </p:nvSpPr>
        <p:spPr>
          <a:xfrm>
            <a:off x="8413849" y="388143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is added to the original features (Residual connection) and normalized.</a:t>
            </a:r>
            <a:endParaRPr/>
          </a:p>
        </p:txBody>
      </p:sp>
      <p:pic>
        <p:nvPicPr>
          <p:cNvPr id="438" name="Google Shape;438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69467" y="279558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47767" y="2795587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26066" y="2795587"/>
            <a:ext cx="29646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4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DATA PREPROCESSING</a:t>
            </a:r>
            <a:endParaRPr/>
          </a:p>
        </p:txBody>
      </p:sp>
      <p:sp>
        <p:nvSpPr>
          <p:cNvPr id="447" name="Google Shape;447;p34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4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/>
          </a:p>
        </p:txBody>
      </p:sp>
      <p:sp>
        <p:nvSpPr>
          <p:cNvPr id="449" name="Google Shape;449;p34"/>
          <p:cNvSpPr txBox="1"/>
          <p:nvPr/>
        </p:nvSpPr>
        <p:spPr>
          <a:xfrm>
            <a:off x="571500" y="3190875"/>
            <a:ext cx="55506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Decontamination</a:t>
            </a:r>
            <a:endParaRPr/>
          </a:p>
        </p:txBody>
      </p:sp>
      <p:sp>
        <p:nvSpPr>
          <p:cNvPr id="450" name="Google Shape;450;p34"/>
          <p:cNvSpPr txBox="1"/>
          <p:nvPr/>
        </p:nvSpPr>
        <p:spPr>
          <a:xfrm>
            <a:off x="571500" y="36385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data is strictly decontaminated. Anomalies in the training set are masked and interpolated to prevent the model from learning "bad behavior" as normal.</a:t>
            </a:r>
            <a:endParaRPr/>
          </a:p>
        </p:txBody>
      </p:sp>
      <p:sp>
        <p:nvSpPr>
          <p:cNvPr id="451" name="Google Shape;451;p34"/>
          <p:cNvSpPr txBox="1"/>
          <p:nvPr/>
        </p:nvSpPr>
        <p:spPr>
          <a:xfrm>
            <a:off x="6334125" y="3190875"/>
            <a:ext cx="55506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RobustScaler</a:t>
            </a:r>
            <a:endParaRPr/>
          </a:p>
        </p:txBody>
      </p:sp>
      <p:sp>
        <p:nvSpPr>
          <p:cNvPr id="452" name="Google Shape;452;p34"/>
          <p:cNvSpPr txBox="1"/>
          <p:nvPr/>
        </p:nvSpPr>
        <p:spPr>
          <a:xfrm>
            <a:off x="6334125" y="36385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standard scaling, `RobustScaler` uses the median and interquartile range (IQR). This makes the model resilient to outliers, which are frequent in anomaly detection tasks.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05175"/>
            <a:ext cx="1104900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5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EWMA DYNAMIC THRESHOLDING</a:t>
            </a:r>
            <a:endParaRPr/>
          </a:p>
        </p:txBody>
      </p:sp>
      <p:sp>
        <p:nvSpPr>
          <p:cNvPr id="460" name="Google Shape;460;p35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5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endParaRPr/>
          </a:p>
        </p:txBody>
      </p:sp>
      <p:sp>
        <p:nvSpPr>
          <p:cNvPr id="462" name="Google Shape;462;p35"/>
          <p:cNvSpPr txBox="1"/>
          <p:nvPr/>
        </p:nvSpPr>
        <p:spPr>
          <a:xfrm>
            <a:off x="571500" y="26193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static threshold fails in dynamic environments. We implemented an Exponential Weighted Moving Average (EWMA) strategy.</a:t>
            </a:r>
            <a:endParaRPr/>
          </a:p>
        </p:txBody>
      </p:sp>
      <p:sp>
        <p:nvSpPr>
          <p:cNvPr id="463" name="Google Shape;463;p35"/>
          <p:cNvSpPr txBox="1"/>
          <p:nvPr/>
        </p:nvSpPr>
        <p:spPr>
          <a:xfrm>
            <a:off x="742950" y="42862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464" name="Google Shape;464;p35"/>
          <p:cNvSpPr txBox="1"/>
          <p:nvPr/>
        </p:nvSpPr>
        <p:spPr>
          <a:xfrm>
            <a:off x="809625" y="4286250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 Net: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"Noise Floor" (99th percentile of training error) prevents the threshold from dropping too low during quiet periods.</a:t>
            </a:r>
            <a:endParaRPr/>
          </a:p>
        </p:txBody>
      </p:sp>
      <p:sp>
        <p:nvSpPr>
          <p:cNvPr id="465" name="Google Shape;465;p35"/>
          <p:cNvSpPr txBox="1"/>
          <p:nvPr/>
        </p:nvSpPr>
        <p:spPr>
          <a:xfrm>
            <a:off x="742950" y="47053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466" name="Google Shape;466;p35"/>
          <p:cNvSpPr txBox="1"/>
          <p:nvPr/>
        </p:nvSpPr>
        <p:spPr>
          <a:xfrm>
            <a:off x="809625" y="4705350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Adaptability: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threshold adjusts automatically to the rolling volatility of the signal.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6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/>
          </a:p>
        </p:txBody>
      </p:sp>
      <p:sp>
        <p:nvSpPr>
          <p:cNvPr id="474" name="Google Shape;474;p36"/>
          <p:cNvSpPr txBox="1"/>
          <p:nvPr/>
        </p:nvSpPr>
        <p:spPr>
          <a:xfrm>
            <a:off x="4860376" y="2634555"/>
            <a:ext cx="2471246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4</a:t>
            </a:r>
            <a:endParaRPr/>
          </a:p>
        </p:txBody>
      </p:sp>
      <p:sp>
        <p:nvSpPr>
          <p:cNvPr id="475" name="Google Shape;475;p36"/>
          <p:cNvSpPr txBox="1"/>
          <p:nvPr/>
        </p:nvSpPr>
        <p:spPr>
          <a:xfrm>
            <a:off x="4851648" y="4035772"/>
            <a:ext cx="2488703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&amp; Results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571500" y="1081087"/>
            <a:ext cx="5200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METRICS</a:t>
            </a:r>
            <a:endParaRPr/>
          </a:p>
        </p:txBody>
      </p:sp>
      <p:sp>
        <p:nvSpPr>
          <p:cNvPr id="482" name="Google Shape;482;p37"/>
          <p:cNvSpPr/>
          <p:nvPr/>
        </p:nvSpPr>
        <p:spPr>
          <a:xfrm>
            <a:off x="571500" y="1624012"/>
            <a:ext cx="4953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7"/>
          <p:cNvSpPr txBox="1"/>
          <p:nvPr/>
        </p:nvSpPr>
        <p:spPr>
          <a:xfrm>
            <a:off x="571500" y="2157412"/>
            <a:ext cx="52006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 at Scale</a:t>
            </a:r>
            <a:endParaRPr/>
          </a:p>
        </p:txBody>
      </p:sp>
      <p:sp>
        <p:nvSpPr>
          <p:cNvPr id="484" name="Google Shape;484;p37"/>
          <p:cNvSpPr txBox="1"/>
          <p:nvPr/>
        </p:nvSpPr>
        <p:spPr>
          <a:xfrm>
            <a:off x="571500" y="274796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distributed Spark job demonstrated high efficiency, processing a complex deep learning pipeline across dozens of files.</a:t>
            </a:r>
            <a:endParaRPr/>
          </a:p>
        </p:txBody>
      </p:sp>
      <p:pic>
        <p:nvPicPr>
          <p:cNvPr id="485" name="Google Shape;485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7"/>
          <p:cNvSpPr txBox="1"/>
          <p:nvPr/>
        </p:nvSpPr>
        <p:spPr>
          <a:xfrm>
            <a:off x="571500" y="4138612"/>
            <a:ext cx="4953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877.84s</a:t>
            </a:r>
            <a:endParaRPr/>
          </a:p>
        </p:txBody>
      </p:sp>
      <p:sp>
        <p:nvSpPr>
          <p:cNvPr id="487" name="Google Shape;487;p37"/>
          <p:cNvSpPr txBox="1"/>
          <p:nvPr/>
        </p:nvSpPr>
        <p:spPr>
          <a:xfrm>
            <a:off x="571500" y="4662487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Execution Time</a:t>
            </a:r>
            <a:endParaRPr/>
          </a:p>
        </p:txBody>
      </p:sp>
      <p:sp>
        <p:nvSpPr>
          <p:cNvPr id="488" name="Google Shape;488;p37"/>
          <p:cNvSpPr txBox="1"/>
          <p:nvPr/>
        </p:nvSpPr>
        <p:spPr>
          <a:xfrm>
            <a:off x="571500" y="5053012"/>
            <a:ext cx="4953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</a:t>
            </a:r>
            <a:endParaRPr/>
          </a:p>
        </p:txBody>
      </p:sp>
      <p:sp>
        <p:nvSpPr>
          <p:cNvPr id="489" name="Google Shape;489;p37"/>
          <p:cNvSpPr txBox="1"/>
          <p:nvPr/>
        </p:nvSpPr>
        <p:spPr>
          <a:xfrm>
            <a:off x="571500" y="5576887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Files Processed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8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SCORECARD</a:t>
            </a:r>
            <a:endParaRPr/>
          </a:p>
        </p:txBody>
      </p:sp>
      <p:sp>
        <p:nvSpPr>
          <p:cNvPr id="496" name="Google Shape;496;p38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8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r>
            <a:endParaRPr/>
          </a:p>
        </p:txBody>
      </p:sp>
      <p:sp>
        <p:nvSpPr>
          <p:cNvPr id="498" name="Google Shape;498;p38"/>
          <p:cNvSpPr txBox="1"/>
          <p:nvPr/>
        </p:nvSpPr>
        <p:spPr>
          <a:xfrm>
            <a:off x="571500" y="2609850"/>
            <a:ext cx="5286375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2ECC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r>
            <a:endParaRPr/>
          </a:p>
        </p:txBody>
      </p:sp>
      <p:sp>
        <p:nvSpPr>
          <p:cNvPr id="499" name="Google Shape;499;p38"/>
          <p:cNvSpPr txBox="1"/>
          <p:nvPr/>
        </p:nvSpPr>
        <p:spPr>
          <a:xfrm>
            <a:off x="439340" y="4152900"/>
            <a:ext cx="55506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Elite Files</a:t>
            </a:r>
            <a:endParaRPr/>
          </a:p>
        </p:txBody>
      </p:sp>
      <p:sp>
        <p:nvSpPr>
          <p:cNvPr id="500" name="Google Shape;500;p38"/>
          <p:cNvSpPr txBox="1"/>
          <p:nvPr/>
        </p:nvSpPr>
        <p:spPr>
          <a:xfrm>
            <a:off x="571500" y="46005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Score ≥ 0.6</a:t>
            </a:r>
            <a:endParaRPr/>
          </a:p>
        </p:txBody>
      </p:sp>
      <p:sp>
        <p:nvSpPr>
          <p:cNvPr id="501" name="Google Shape;501;p38"/>
          <p:cNvSpPr txBox="1"/>
          <p:nvPr/>
        </p:nvSpPr>
        <p:spPr>
          <a:xfrm>
            <a:off x="6334125" y="2609850"/>
            <a:ext cx="5286375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E74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r>
            <a:endParaRPr/>
          </a:p>
        </p:txBody>
      </p:sp>
      <p:sp>
        <p:nvSpPr>
          <p:cNvPr id="502" name="Google Shape;502;p38"/>
          <p:cNvSpPr txBox="1"/>
          <p:nvPr/>
        </p:nvSpPr>
        <p:spPr>
          <a:xfrm>
            <a:off x="6201965" y="4152900"/>
            <a:ext cx="55506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Files</a:t>
            </a:r>
            <a:endParaRPr/>
          </a:p>
        </p:txBody>
      </p:sp>
      <p:sp>
        <p:nvSpPr>
          <p:cNvPr id="503" name="Google Shape;503;p38"/>
          <p:cNvSpPr txBox="1"/>
          <p:nvPr/>
        </p:nvSpPr>
        <p:spPr>
          <a:xfrm>
            <a:off x="6334125" y="46005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Score &lt; 0.6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28725"/>
            <a:ext cx="11049000" cy="524827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39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SCORE DISTRIBUTION</a:t>
            </a:r>
            <a:endParaRPr/>
          </a:p>
        </p:txBody>
      </p:sp>
      <p:sp>
        <p:nvSpPr>
          <p:cNvPr id="511" name="Google Shape;511;p39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9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/>
          </a:p>
        </p:txBody>
      </p:sp>
      <p:sp>
        <p:nvSpPr>
          <p:cNvPr id="513" name="Google Shape;513;p39"/>
          <p:cNvSpPr txBox="1"/>
          <p:nvPr/>
        </p:nvSpPr>
        <p:spPr>
          <a:xfrm>
            <a:off x="571500" y="56054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 showing the polarization of model performance across datasets.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0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"ELITE" PERFORMERS</a:t>
            </a:r>
            <a:endParaRPr/>
          </a:p>
        </p:txBody>
      </p:sp>
      <p:sp>
        <p:nvSpPr>
          <p:cNvPr id="520" name="Google Shape;520;p40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0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/>
          </a:p>
        </p:txBody>
      </p:sp>
      <p:graphicFrame>
        <p:nvGraphicFramePr>
          <p:cNvPr id="522" name="Google Shape;522;p40"/>
          <p:cNvGraphicFramePr/>
          <p:nvPr/>
        </p:nvGraphicFramePr>
        <p:xfrm>
          <a:off x="571500" y="2195512"/>
          <a:ext cx="11049000" cy="3505200"/>
        </p:xfrm>
        <a:graphic>
          <a:graphicData uri="http://schemas.openxmlformats.org/drawingml/2006/table">
            <a:tbl>
              <a:tblPr firstRow="1" bandRow="1">
                <a:noFill/>
                <a:tableStyleId>{1BF4F649-525C-4883-A1D5-D2048D784699}</a:tableStyleId>
              </a:tblPr>
              <a:tblGrid>
                <a:gridCol w="423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B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 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B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real_11.csv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ECC7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ELITE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real_17.csv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ECC7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ELITE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real_15.csv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ECC7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ELITE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real_22.csv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ECC7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ELITE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real_10.csv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2D374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ECC7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ELITE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3" name="Google Shape;523;p40"/>
          <p:cNvSpPr/>
          <p:nvPr/>
        </p:nvSpPr>
        <p:spPr>
          <a:xfrm>
            <a:off x="571500" y="3286125"/>
            <a:ext cx="42343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0"/>
          <p:cNvSpPr/>
          <p:nvPr/>
        </p:nvSpPr>
        <p:spPr>
          <a:xfrm>
            <a:off x="4805808" y="3286125"/>
            <a:ext cx="3641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0"/>
          <p:cNvSpPr/>
          <p:nvPr/>
        </p:nvSpPr>
        <p:spPr>
          <a:xfrm>
            <a:off x="8447186" y="3286125"/>
            <a:ext cx="3173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0"/>
          <p:cNvSpPr/>
          <p:nvPr/>
        </p:nvSpPr>
        <p:spPr>
          <a:xfrm>
            <a:off x="571500" y="3886200"/>
            <a:ext cx="42343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0"/>
          <p:cNvSpPr/>
          <p:nvPr/>
        </p:nvSpPr>
        <p:spPr>
          <a:xfrm>
            <a:off x="4805808" y="3886200"/>
            <a:ext cx="3641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0"/>
          <p:cNvSpPr/>
          <p:nvPr/>
        </p:nvSpPr>
        <p:spPr>
          <a:xfrm>
            <a:off x="8447186" y="3886200"/>
            <a:ext cx="3173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0"/>
          <p:cNvSpPr/>
          <p:nvPr/>
        </p:nvSpPr>
        <p:spPr>
          <a:xfrm>
            <a:off x="571500" y="4486275"/>
            <a:ext cx="42343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0"/>
          <p:cNvSpPr/>
          <p:nvPr/>
        </p:nvSpPr>
        <p:spPr>
          <a:xfrm>
            <a:off x="4805808" y="4486275"/>
            <a:ext cx="3641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0"/>
          <p:cNvSpPr/>
          <p:nvPr/>
        </p:nvSpPr>
        <p:spPr>
          <a:xfrm>
            <a:off x="8447186" y="4486275"/>
            <a:ext cx="3173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0"/>
          <p:cNvSpPr/>
          <p:nvPr/>
        </p:nvSpPr>
        <p:spPr>
          <a:xfrm>
            <a:off x="571500" y="5086350"/>
            <a:ext cx="42343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0"/>
          <p:cNvSpPr/>
          <p:nvPr/>
        </p:nvSpPr>
        <p:spPr>
          <a:xfrm>
            <a:off x="4805808" y="5086350"/>
            <a:ext cx="3641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0"/>
          <p:cNvSpPr/>
          <p:nvPr/>
        </p:nvSpPr>
        <p:spPr>
          <a:xfrm>
            <a:off x="8447186" y="5086350"/>
            <a:ext cx="3173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0"/>
          <p:cNvSpPr/>
          <p:nvPr/>
        </p:nvSpPr>
        <p:spPr>
          <a:xfrm>
            <a:off x="571500" y="5686425"/>
            <a:ext cx="42343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0"/>
          <p:cNvSpPr/>
          <p:nvPr/>
        </p:nvSpPr>
        <p:spPr>
          <a:xfrm>
            <a:off x="4805808" y="5686425"/>
            <a:ext cx="36413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0"/>
          <p:cNvSpPr/>
          <p:nvPr/>
        </p:nvSpPr>
        <p:spPr>
          <a:xfrm>
            <a:off x="8447186" y="5686425"/>
            <a:ext cx="31733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1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STUDY: REAL_17.CSV</a:t>
            </a:r>
            <a:endParaRPr/>
          </a:p>
        </p:txBody>
      </p:sp>
      <p:sp>
        <p:nvSpPr>
          <p:cNvPr id="545" name="Google Shape;545;p41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1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r>
            <a:endParaRPr/>
          </a:p>
        </p:txBody>
      </p:sp>
      <p:sp>
        <p:nvSpPr>
          <p:cNvPr id="547" name="Google Shape;547;p41"/>
          <p:cNvSpPr txBox="1"/>
          <p:nvPr/>
        </p:nvSpPr>
        <p:spPr>
          <a:xfrm>
            <a:off x="571500" y="2543175"/>
            <a:ext cx="55506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Perfect Detection</a:t>
            </a:r>
            <a:endParaRPr/>
          </a:p>
        </p:txBody>
      </p:sp>
      <p:sp>
        <p:nvSpPr>
          <p:cNvPr id="548" name="Google Shape;548;p41"/>
          <p:cNvSpPr txBox="1"/>
          <p:nvPr/>
        </p:nvSpPr>
        <p:spPr>
          <a:xfrm>
            <a:off x="571500" y="29908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achieved an F1 Score of 1.00 on `real_17.csv`.</a:t>
            </a:r>
            <a:endParaRPr/>
          </a:p>
        </p:txBody>
      </p:sp>
      <p:pic>
        <p:nvPicPr>
          <p:cNvPr id="549" name="Google Shape;549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1"/>
          <p:cNvSpPr txBox="1"/>
          <p:nvPr/>
        </p:nvSpPr>
        <p:spPr>
          <a:xfrm>
            <a:off x="742950" y="34861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551" name="Google Shape;551;p41"/>
          <p:cNvSpPr txBox="1"/>
          <p:nvPr/>
        </p:nvSpPr>
        <p:spPr>
          <a:xfrm>
            <a:off x="809625" y="34861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Clean baseline with distinct anomalies.</a:t>
            </a:r>
            <a:endParaRPr/>
          </a:p>
        </p:txBody>
      </p:sp>
      <p:sp>
        <p:nvSpPr>
          <p:cNvPr id="552" name="Google Shape;552;p41"/>
          <p:cNvSpPr txBox="1"/>
          <p:nvPr/>
        </p:nvSpPr>
        <p:spPr>
          <a:xfrm>
            <a:off x="742950" y="39052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553" name="Google Shape;553;p41"/>
          <p:cNvSpPr txBox="1"/>
          <p:nvPr/>
        </p:nvSpPr>
        <p:spPr>
          <a:xfrm>
            <a:off x="809625" y="39052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model successfully flagged all anomalies without false positives.</a:t>
            </a:r>
            <a:endParaRPr/>
          </a:p>
        </p:txBody>
      </p:sp>
      <p:sp>
        <p:nvSpPr>
          <p:cNvPr id="554" name="Google Shape;554;p41"/>
          <p:cNvSpPr txBox="1"/>
          <p:nvPr/>
        </p:nvSpPr>
        <p:spPr>
          <a:xfrm>
            <a:off x="742950" y="46291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555" name="Google Shape;555;p41"/>
          <p:cNvSpPr txBox="1"/>
          <p:nvPr/>
        </p:nvSpPr>
        <p:spPr>
          <a:xfrm>
            <a:off x="809625" y="46291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Red dots (predictions) align perfectly with green zones (ground truth).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2"/>
          <p:cNvSpPr txBox="1"/>
          <p:nvPr/>
        </p:nvSpPr>
        <p:spPr>
          <a:xfrm>
            <a:off x="571500" y="3810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2C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CONCLUSION &amp; ARTIFACTS</a:t>
            </a:r>
            <a:endParaRPr/>
          </a:p>
        </p:txBody>
      </p:sp>
      <p:sp>
        <p:nvSpPr>
          <p:cNvPr id="563" name="Google Shape;563;p42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2"/>
          <p:cNvSpPr txBox="1"/>
          <p:nvPr/>
        </p:nvSpPr>
        <p:spPr>
          <a:xfrm>
            <a:off x="285750" y="65151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/>
          </a:p>
        </p:txBody>
      </p:sp>
      <p:sp>
        <p:nvSpPr>
          <p:cNvPr id="565" name="Google Shape;565;p42"/>
          <p:cNvSpPr txBox="1"/>
          <p:nvPr/>
        </p:nvSpPr>
        <p:spPr>
          <a:xfrm>
            <a:off x="571500" y="2809875"/>
            <a:ext cx="55506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4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Deliverables</a:t>
            </a:r>
            <a:endParaRPr/>
          </a:p>
        </p:txBody>
      </p:sp>
      <p:pic>
        <p:nvPicPr>
          <p:cNvPr id="566" name="Google Shape;566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2"/>
          <p:cNvSpPr txBox="1"/>
          <p:nvPr/>
        </p:nvSpPr>
        <p:spPr>
          <a:xfrm>
            <a:off x="742950" y="32194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568" name="Google Shape;568;p42"/>
          <p:cNvSpPr txBox="1"/>
          <p:nvPr/>
        </p:nvSpPr>
        <p:spPr>
          <a:xfrm>
            <a:off x="809625" y="32194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33 Elite Keras models saved to local disk and HDFS.</a:t>
            </a:r>
            <a:endParaRPr/>
          </a:p>
        </p:txBody>
      </p:sp>
      <p:sp>
        <p:nvSpPr>
          <p:cNvPr id="569" name="Google Shape;569;p42"/>
          <p:cNvSpPr txBox="1"/>
          <p:nvPr/>
        </p:nvSpPr>
        <p:spPr>
          <a:xfrm>
            <a:off x="742950" y="36385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570" name="Google Shape;570;p42"/>
          <p:cNvSpPr txBox="1"/>
          <p:nvPr/>
        </p:nvSpPr>
        <p:spPr>
          <a:xfrm>
            <a:off x="809625" y="36385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`final_anomaly_results.csv` containing metrics for all 67 files.</a:t>
            </a:r>
            <a:endParaRPr/>
          </a:p>
        </p:txBody>
      </p:sp>
      <p:sp>
        <p:nvSpPr>
          <p:cNvPr id="571" name="Google Shape;571;p42"/>
          <p:cNvSpPr txBox="1"/>
          <p:nvPr/>
        </p:nvSpPr>
        <p:spPr>
          <a:xfrm>
            <a:off x="742950" y="43624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572" name="Google Shape;572;p42"/>
          <p:cNvSpPr txBox="1"/>
          <p:nvPr/>
        </p:nvSpPr>
        <p:spPr>
          <a:xfrm>
            <a:off x="809625" y="43624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Impact:</a:t>
            </a:r>
            <a:r>
              <a:rPr lang="en-US" sz="1500" b="0" i="0" u="none" strike="noStrike" cap="non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Demonstrated a scalable, leakage-free pipeline for real-time industrial anomaly detection.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1473</Words>
  <Application>Microsoft Office PowerPoint</Application>
  <PresentationFormat>Widescreen</PresentationFormat>
  <Paragraphs>280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pardhu sankar</cp:lastModifiedBy>
  <cp:revision>7</cp:revision>
  <dcterms:modified xsi:type="dcterms:W3CDTF">2026-03-23T16:50:00Z</dcterms:modified>
</cp:coreProperties>
</file>